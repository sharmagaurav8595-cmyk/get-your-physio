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aurav\Desktop\Gaurav\tutorials\React\GMP\src\assets\generated\event-recovery-zone-t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56032" y="128016"/>
            <a:ext cx="1572768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9D2D2"/>
            </a:solidFill>
            <a:prstDash val="solid"/>
          </a:ln>
        </p:spPr>
      </p:sp>
      <p:pic>
        <p:nvPicPr>
          <p:cNvPr id="6" name="Image 1" descr="C:\Users\Gaurav\Desktop\Gaurav\tutorials\React\GMP\src\assets\logoNew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73736"/>
            <a:ext cx="1024128" cy="10241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109728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360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Healing at your doorstep.</a:t>
            </a:r>
            <a:endParaRPr lang="en-US" sz="660" dirty="0"/>
          </a:p>
        </p:txBody>
      </p:sp>
      <p:sp>
        <p:nvSpPr>
          <p:cNvPr id="8" name="Shape 4"/>
          <p:cNvSpPr/>
          <p:nvPr/>
        </p:nvSpPr>
        <p:spPr>
          <a:xfrm>
            <a:off x="2039112" y="164592"/>
            <a:ext cx="0" cy="1097280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69727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359152" y="210312"/>
            <a:ext cx="7269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GETYOURPHYSIO.IN</a:t>
            </a:r>
            <a:pPr algn="ctr" indent="0" marL="0">
              <a:buNone/>
            </a:pPr>
            <a:r>
              <a:rPr lang="en-US" sz="245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  ×  </a:t>
            </a:r>
            <a:pPr algn="ctr" indent="0" marL="0">
              <a:buNone/>
            </a:pPr>
            <a:r>
              <a:rPr lang="en-US" sz="245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HYROX MUMBAI</a:t>
            </a:r>
            <a:endParaRPr lang="en-US" sz="2450" dirty="0"/>
          </a:p>
        </p:txBody>
      </p:sp>
      <p:sp>
        <p:nvSpPr>
          <p:cNvPr id="10" name="Text 6"/>
          <p:cNvSpPr txBox="1"/>
          <p:nvPr/>
        </p:nvSpPr>
        <p:spPr>
          <a:xfrm>
            <a:off x="3127248" y="66751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spc="60" kern="0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PHYSIOTHERAPY &amp; ATHLETE RECOVERY</a:t>
            </a:r>
            <a:endParaRPr lang="en-US" sz="1320" dirty="0"/>
          </a:p>
        </p:txBody>
      </p:sp>
      <p:sp>
        <p:nvSpPr>
          <p:cNvPr id="11" name="Shape 7"/>
          <p:cNvSpPr/>
          <p:nvPr/>
        </p:nvSpPr>
        <p:spPr>
          <a:xfrm>
            <a:off x="3429000" y="969264"/>
            <a:ext cx="5413248" cy="347472"/>
          </a:xfrm>
          <a:prstGeom prst="parallelogram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85032" y="97840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spc="50" kern="0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DEPLOYMENT PLAN</a:t>
            </a:r>
            <a:endParaRPr lang="en-US" sz="1630" dirty="0"/>
          </a:p>
        </p:txBody>
      </p:sp>
      <p:sp>
        <p:nvSpPr>
          <p:cNvPr id="13" name="Shape 9"/>
          <p:cNvSpPr/>
          <p:nvPr/>
        </p:nvSpPr>
        <p:spPr>
          <a:xfrm>
            <a:off x="9802368" y="0"/>
            <a:ext cx="2389327" cy="1426464"/>
          </a:xfrm>
          <a:prstGeom prst="rect">
            <a:avLst/>
          </a:prstGeom>
          <a:solidFill>
            <a:srgbClr val="090D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rot="16200000">
            <a:off x="9345168" y="0"/>
            <a:ext cx="530352" cy="1426464"/>
          </a:xfrm>
          <a:prstGeom prst="triangle">
            <a:avLst/>
          </a:prstGeom>
          <a:solidFill>
            <a:srgbClr val="090D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rot="10800000">
            <a:off x="11667744" y="0"/>
            <a:ext cx="521208" cy="713232"/>
          </a:xfrm>
          <a:prstGeom prst="triangl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1722608" y="10972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9985248" y="2377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spc="4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Y R O X</a:t>
            </a:r>
            <a:endParaRPr lang="en-US" sz="1320" dirty="0"/>
          </a:p>
        </p:txBody>
      </p:sp>
      <p:sp>
        <p:nvSpPr>
          <p:cNvPr id="18" name="Shape 14"/>
          <p:cNvSpPr/>
          <p:nvPr/>
        </p:nvSpPr>
        <p:spPr>
          <a:xfrm>
            <a:off x="10149840" y="548640"/>
            <a:ext cx="1353312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F1DC3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030968" y="60350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spc="200" kern="0" dirty="0">
                <a:solidFill>
                  <a:srgbClr val="F1DC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U M B A I</a:t>
            </a:r>
            <a:endParaRPr lang="en-US" sz="1040" dirty="0"/>
          </a:p>
        </p:txBody>
      </p:sp>
      <p:sp>
        <p:nvSpPr>
          <p:cNvPr id="20" name="Text 16"/>
          <p:cNvSpPr txBox="1"/>
          <p:nvPr/>
        </p:nvSpPr>
        <p:spPr>
          <a:xfrm>
            <a:off x="9930384" y="8686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17–20 SEPT 2026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NESCO CENTRE</a:t>
            </a:r>
            <a:endParaRPr lang="en-US" sz="1020" dirty="0"/>
          </a:p>
        </p:txBody>
      </p:sp>
      <p:sp>
        <p:nvSpPr>
          <p:cNvPr id="21" name="Text 17"/>
          <p:cNvSpPr txBox="1"/>
          <p:nvPr/>
        </p:nvSpPr>
        <p:spPr>
          <a:xfrm>
            <a:off x="9052560" y="1280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10" kern="0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PROPOSED</a:t>
            </a:r>
            <a:endParaRPr lang="en-US" sz="700" dirty="0"/>
          </a:p>
        </p:txBody>
      </p:sp>
      <p:sp>
        <p:nvSpPr>
          <p:cNvPr id="22" name="Text 18"/>
          <p:cNvSpPr txBox="1"/>
          <p:nvPr/>
        </p:nvSpPr>
        <p:spPr>
          <a:xfrm>
            <a:off x="566928" y="166420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PROPOSED TEAM</a:t>
            </a:r>
            <a:endParaRPr lang="en-US" sz="1620" dirty="0"/>
          </a:p>
        </p:txBody>
      </p:sp>
      <p:sp>
        <p:nvSpPr>
          <p:cNvPr id="23" name="Shape 19"/>
          <p:cNvSpPr/>
          <p:nvPr/>
        </p:nvSpPr>
        <p:spPr>
          <a:xfrm>
            <a:off x="612648" y="2103120"/>
            <a:ext cx="228600" cy="228600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12648" y="208483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80" dirty="0"/>
          </a:p>
        </p:txBody>
      </p:sp>
      <p:sp>
        <p:nvSpPr>
          <p:cNvPr id="25" name="Text 21"/>
          <p:cNvSpPr/>
          <p:nvPr/>
        </p:nvSpPr>
        <p:spPr>
          <a:xfrm>
            <a:off x="996696" y="2066544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10–14 Sports Physiotherapists</a:t>
            </a:r>
            <a:pPr indent="0" marL="0">
              <a:buNone/>
            </a:pPr>
            <a:r>
              <a:rPr lang="en-US" sz="115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deployed across the event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12648" y="2697480"/>
            <a:ext cx="228600" cy="228600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12648" y="267919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80" dirty="0"/>
          </a:p>
        </p:txBody>
      </p:sp>
      <p:sp>
        <p:nvSpPr>
          <p:cNvPr id="28" name="Text 24"/>
          <p:cNvSpPr/>
          <p:nvPr/>
        </p:nvSpPr>
        <p:spPr>
          <a:xfrm>
            <a:off x="996696" y="2660904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Senior Physiotherapy Leads</a:t>
            </a:r>
            <a:pPr indent="0" marL="0">
              <a:buNone/>
            </a:pPr>
            <a:r>
              <a:rPr lang="en-US" sz="115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for clinical supervision &amp; coordination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12648" y="3291840"/>
            <a:ext cx="228600" cy="228600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12648" y="327355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80" dirty="0"/>
          </a:p>
        </p:txBody>
      </p:sp>
      <p:sp>
        <p:nvSpPr>
          <p:cNvPr id="31" name="Text 27"/>
          <p:cNvSpPr/>
          <p:nvPr/>
        </p:nvSpPr>
        <p:spPr>
          <a:xfrm>
            <a:off x="996696" y="3255264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Operations Coordinator</a:t>
            </a:r>
            <a:pPr indent="0" marL="0">
              <a:buNone/>
            </a:pPr>
            <a:r>
              <a:rPr lang="en-US" sz="115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for smooth execution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12648" y="3886200"/>
            <a:ext cx="228600" cy="228600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12648" y="386791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80" dirty="0"/>
          </a:p>
        </p:txBody>
      </p:sp>
      <p:sp>
        <p:nvSpPr>
          <p:cNvPr id="34" name="Text 30"/>
          <p:cNvSpPr/>
          <p:nvPr/>
        </p:nvSpPr>
        <p:spPr>
          <a:xfrm>
            <a:off x="996696" y="3849624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across active shifts</a:t>
            </a:r>
            <a:pPr indent="0" marL="0">
              <a:buNone/>
            </a:pPr>
            <a:r>
              <a:rPr lang="en-US" sz="115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operating hours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12648" y="4480560"/>
            <a:ext cx="228600" cy="228600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12648" y="446227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80" dirty="0"/>
          </a:p>
        </p:txBody>
      </p:sp>
      <p:sp>
        <p:nvSpPr>
          <p:cNvPr id="37" name="Text 33"/>
          <p:cNvSpPr/>
          <p:nvPr/>
        </p:nvSpPr>
        <p:spPr>
          <a:xfrm>
            <a:off x="996696" y="4443984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Uniformed, professional and athlete-focused</a:t>
            </a:r>
            <a:pPr indent="0" marL="0">
              <a:buNone/>
            </a:pPr>
            <a:r>
              <a:rPr lang="en-US" sz="115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recovery team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5623560" y="1627632"/>
            <a:ext cx="6007608" cy="438912"/>
          </a:xfrm>
          <a:prstGeom prst="roundRect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806440" y="1664208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TEAM COMPOSITION &amp; DEPLOYMENT</a:t>
            </a:r>
            <a:endParaRPr lang="en-US" sz="1500" dirty="0"/>
          </a:p>
        </p:txBody>
      </p:sp>
      <p:sp>
        <p:nvSpPr>
          <p:cNvPr id="40" name="Shape 36"/>
          <p:cNvSpPr/>
          <p:nvPr/>
        </p:nvSpPr>
        <p:spPr>
          <a:xfrm>
            <a:off x="5623560" y="2057400"/>
            <a:ext cx="6007608" cy="384048"/>
          </a:xfrm>
          <a:prstGeom prst="rect">
            <a:avLst/>
          </a:prstGeom>
          <a:solidFill>
            <a:srgbClr val="090D0F"/>
          </a:solidFill>
          <a:ln w="5715">
            <a:solidFill>
              <a:srgbClr val="758083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9921240" y="2057400"/>
            <a:ext cx="0" cy="384048"/>
          </a:xfrm>
          <a:prstGeom prst="line">
            <a:avLst/>
          </a:prstGeom>
          <a:solidFill>
            <a:srgbClr val="FFFFFF">
              <a:alpha val="0"/>
            </a:srgbClr>
          </a:solidFill>
          <a:ln w="5715">
            <a:solidFill>
              <a:srgbClr val="758083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815584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ROLE</a:t>
            </a:r>
            <a:endParaRPr lang="en-US" sz="1260" dirty="0"/>
          </a:p>
        </p:txBody>
      </p:sp>
      <p:sp>
        <p:nvSpPr>
          <p:cNvPr id="43" name="Text 39"/>
          <p:cNvSpPr txBox="1"/>
          <p:nvPr/>
        </p:nvSpPr>
        <p:spPr>
          <a:xfrm>
            <a:off x="10040112" y="2084832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DEPLOYMENT</a:t>
            </a:r>
            <a:endParaRPr lang="en-US" sz="1260" dirty="0"/>
          </a:p>
        </p:txBody>
      </p:sp>
      <p:sp>
        <p:nvSpPr>
          <p:cNvPr id="44" name="Shape 40"/>
          <p:cNvSpPr/>
          <p:nvPr/>
        </p:nvSpPr>
        <p:spPr>
          <a:xfrm>
            <a:off x="5623560" y="2441448"/>
            <a:ext cx="6007608" cy="585216"/>
          </a:xfrm>
          <a:prstGeom prst="rect">
            <a:avLst/>
          </a:prstGeom>
          <a:solidFill>
            <a:srgbClr val="F1F3F2"/>
          </a:solidFill>
          <a:ln w="5715">
            <a:solidFill>
              <a:srgbClr val="758083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921240" y="2441448"/>
            <a:ext cx="0" cy="585216"/>
          </a:xfrm>
          <a:prstGeom prst="line">
            <a:avLst/>
          </a:prstGeom>
          <a:solidFill>
            <a:srgbClr val="FFFFFF">
              <a:alpha val="0"/>
            </a:srgbClr>
          </a:solidFill>
          <a:ln w="5715">
            <a:solidFill>
              <a:srgbClr val="758083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897880" y="250545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Senior Physiotherapy Leads</a:t>
            </a:r>
            <a:endParaRPr lang="en-US" sz="1220" dirty="0"/>
          </a:p>
        </p:txBody>
      </p:sp>
      <p:sp>
        <p:nvSpPr>
          <p:cNvPr id="47" name="Text 43"/>
          <p:cNvSpPr txBox="1"/>
          <p:nvPr/>
        </p:nvSpPr>
        <p:spPr>
          <a:xfrm>
            <a:off x="10003536" y="2487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2</a:t>
            </a:r>
            <a:endParaRPr lang="en-US" sz="1700" dirty="0"/>
          </a:p>
        </p:txBody>
      </p:sp>
      <p:sp>
        <p:nvSpPr>
          <p:cNvPr id="48" name="Shape 44"/>
          <p:cNvSpPr/>
          <p:nvPr/>
        </p:nvSpPr>
        <p:spPr>
          <a:xfrm>
            <a:off x="5623560" y="3026664"/>
            <a:ext cx="6007608" cy="585216"/>
          </a:xfrm>
          <a:prstGeom prst="rect">
            <a:avLst/>
          </a:prstGeom>
          <a:solidFill>
            <a:srgbClr val="F1F3F2"/>
          </a:solidFill>
          <a:ln w="5715">
            <a:solidFill>
              <a:srgbClr val="758083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9921240" y="3026664"/>
            <a:ext cx="0" cy="585216"/>
          </a:xfrm>
          <a:prstGeom prst="line">
            <a:avLst/>
          </a:prstGeom>
          <a:solidFill>
            <a:srgbClr val="FFFFFF">
              <a:alpha val="0"/>
            </a:srgbClr>
          </a:solidFill>
          <a:ln w="5715">
            <a:solidFill>
              <a:srgbClr val="758083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897880" y="30906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Sports Physiotherapists</a:t>
            </a:r>
            <a:endParaRPr lang="en-US" sz="1220" dirty="0"/>
          </a:p>
        </p:txBody>
      </p:sp>
      <p:sp>
        <p:nvSpPr>
          <p:cNvPr id="51" name="Text 47"/>
          <p:cNvSpPr txBox="1"/>
          <p:nvPr/>
        </p:nvSpPr>
        <p:spPr>
          <a:xfrm>
            <a:off x="10003536" y="30723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10–14</a:t>
            </a:r>
            <a:endParaRPr lang="en-US" sz="1700" dirty="0"/>
          </a:p>
        </p:txBody>
      </p:sp>
      <p:sp>
        <p:nvSpPr>
          <p:cNvPr id="52" name="Shape 48"/>
          <p:cNvSpPr/>
          <p:nvPr/>
        </p:nvSpPr>
        <p:spPr>
          <a:xfrm>
            <a:off x="5623560" y="3611880"/>
            <a:ext cx="6007608" cy="585216"/>
          </a:xfrm>
          <a:prstGeom prst="rect">
            <a:avLst/>
          </a:prstGeom>
          <a:solidFill>
            <a:srgbClr val="F1F3F2"/>
          </a:solidFill>
          <a:ln w="5715">
            <a:solidFill>
              <a:srgbClr val="758083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9921240" y="3611880"/>
            <a:ext cx="0" cy="585216"/>
          </a:xfrm>
          <a:prstGeom prst="line">
            <a:avLst/>
          </a:prstGeom>
          <a:solidFill>
            <a:srgbClr val="FFFFFF">
              <a:alpha val="0"/>
            </a:srgbClr>
          </a:solidFill>
          <a:ln w="5715">
            <a:solidFill>
              <a:srgbClr val="758083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5897880" y="36758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Event Operations Coordinator</a:t>
            </a:r>
            <a:endParaRPr lang="en-US" sz="1220" dirty="0"/>
          </a:p>
        </p:txBody>
      </p:sp>
      <p:sp>
        <p:nvSpPr>
          <p:cNvPr id="55" name="Text 51"/>
          <p:cNvSpPr txBox="1"/>
          <p:nvPr/>
        </p:nvSpPr>
        <p:spPr>
          <a:xfrm>
            <a:off x="10003536" y="36576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1</a:t>
            </a:r>
            <a:endParaRPr lang="en-US" sz="1700" dirty="0"/>
          </a:p>
        </p:txBody>
      </p:sp>
      <p:sp>
        <p:nvSpPr>
          <p:cNvPr id="56" name="Shape 52"/>
          <p:cNvSpPr/>
          <p:nvPr/>
        </p:nvSpPr>
        <p:spPr>
          <a:xfrm>
            <a:off x="5623560" y="4197096"/>
            <a:ext cx="6007608" cy="585216"/>
          </a:xfrm>
          <a:prstGeom prst="rect">
            <a:avLst/>
          </a:prstGeom>
          <a:solidFill>
            <a:srgbClr val="064B49"/>
          </a:solidFill>
          <a:ln w="5715">
            <a:solidFill>
              <a:srgbClr val="758083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9921240" y="4197096"/>
            <a:ext cx="0" cy="585216"/>
          </a:xfrm>
          <a:prstGeom prst="line">
            <a:avLst/>
          </a:prstGeom>
          <a:solidFill>
            <a:srgbClr val="FFFFFF">
              <a:alpha val="0"/>
            </a:srgbClr>
          </a:solidFill>
          <a:ln w="5715">
            <a:solidFill>
              <a:srgbClr val="759B99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5897880" y="42611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TOTAL PROPOSED TEAM</a:t>
            </a:r>
            <a:endParaRPr lang="en-US" sz="1400" dirty="0"/>
          </a:p>
        </p:txBody>
      </p:sp>
      <p:sp>
        <p:nvSpPr>
          <p:cNvPr id="59" name="Text 55"/>
          <p:cNvSpPr txBox="1"/>
          <p:nvPr/>
        </p:nvSpPr>
        <p:spPr>
          <a:xfrm>
            <a:off x="10003536" y="424281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13–17</a:t>
            </a:r>
            <a:endParaRPr lang="en-US" sz="1800" dirty="0"/>
          </a:p>
        </p:txBody>
      </p:sp>
      <p:sp>
        <p:nvSpPr>
          <p:cNvPr id="60" name="Text 56"/>
          <p:cNvSpPr txBox="1"/>
          <p:nvPr/>
        </p:nvSpPr>
        <p:spPr>
          <a:xfrm>
            <a:off x="5760720" y="48097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i="1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Final strength aligned with athlete footfall, recovery-zone capacity and operating hours.</a:t>
            </a:r>
            <a:endParaRPr lang="en-US" sz="840" dirty="0"/>
          </a:p>
        </p:txBody>
      </p:sp>
      <p:sp>
        <p:nvSpPr>
          <p:cNvPr id="61" name="Shape 57"/>
          <p:cNvSpPr/>
          <p:nvPr/>
        </p:nvSpPr>
        <p:spPr>
          <a:xfrm>
            <a:off x="530352" y="5148072"/>
            <a:ext cx="11128248" cy="1243584"/>
          </a:xfrm>
          <a:prstGeom prst="roundRect">
            <a:avLst/>
          </a:prstGeom>
          <a:solidFill>
            <a:srgbClr val="090D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4526280" y="5248656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EVENT EXPERIENCE</a:t>
            </a:r>
            <a:endParaRPr lang="en-US" sz="1360" dirty="0"/>
          </a:p>
        </p:txBody>
      </p:sp>
      <p:sp>
        <p:nvSpPr>
          <p:cNvPr id="63" name="Shape 59"/>
          <p:cNvSpPr/>
          <p:nvPr/>
        </p:nvSpPr>
        <p:spPr>
          <a:xfrm>
            <a:off x="1078992" y="5504688"/>
            <a:ext cx="420624" cy="420624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1078992" y="5513832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FF</a:t>
            </a:r>
            <a:endParaRPr lang="en-US" sz="930" dirty="0"/>
          </a:p>
        </p:txBody>
      </p:sp>
      <p:sp>
        <p:nvSpPr>
          <p:cNvPr id="65" name="Text 61"/>
          <p:cNvSpPr txBox="1"/>
          <p:nvPr/>
        </p:nvSpPr>
        <p:spPr>
          <a:xfrm>
            <a:off x="768096" y="5980176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Functional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Fitness</a:t>
            </a:r>
            <a:endParaRPr lang="en-US" sz="960" dirty="0"/>
          </a:p>
        </p:txBody>
      </p:sp>
      <p:sp>
        <p:nvSpPr>
          <p:cNvPr id="66" name="Shape 62"/>
          <p:cNvSpPr/>
          <p:nvPr/>
        </p:nvSpPr>
        <p:spPr>
          <a:xfrm>
            <a:off x="3145536" y="5504688"/>
            <a:ext cx="420624" cy="420624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3145536" y="5513832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MR</a:t>
            </a:r>
            <a:endParaRPr lang="en-US" sz="930" dirty="0"/>
          </a:p>
        </p:txBody>
      </p:sp>
      <p:sp>
        <p:nvSpPr>
          <p:cNvPr id="68" name="Text 64"/>
          <p:cNvSpPr txBox="1"/>
          <p:nvPr/>
        </p:nvSpPr>
        <p:spPr>
          <a:xfrm>
            <a:off x="2834640" y="5980176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Marathons &amp;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Endurance</a:t>
            </a:r>
            <a:endParaRPr lang="en-US" sz="960" dirty="0"/>
          </a:p>
        </p:txBody>
      </p:sp>
      <p:sp>
        <p:nvSpPr>
          <p:cNvPr id="69" name="Shape 65"/>
          <p:cNvSpPr/>
          <p:nvPr/>
        </p:nvSpPr>
        <p:spPr>
          <a:xfrm>
            <a:off x="5212080" y="5504688"/>
            <a:ext cx="420624" cy="420624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5212080" y="5513832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RZ</a:t>
            </a:r>
            <a:endParaRPr lang="en-US" sz="930" dirty="0"/>
          </a:p>
        </p:txBody>
      </p:sp>
      <p:sp>
        <p:nvSpPr>
          <p:cNvPr id="71" name="Text 67"/>
          <p:cNvSpPr txBox="1"/>
          <p:nvPr/>
        </p:nvSpPr>
        <p:spPr>
          <a:xfrm>
            <a:off x="4901184" y="5980176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Athlete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Recovery Zones</a:t>
            </a:r>
            <a:endParaRPr lang="en-US" sz="960" dirty="0"/>
          </a:p>
        </p:txBody>
      </p:sp>
      <p:sp>
        <p:nvSpPr>
          <p:cNvPr id="72" name="Shape 68"/>
          <p:cNvSpPr/>
          <p:nvPr/>
        </p:nvSpPr>
        <p:spPr>
          <a:xfrm>
            <a:off x="7278624" y="5504688"/>
            <a:ext cx="420624" cy="420624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7278624" y="5513832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SP</a:t>
            </a:r>
            <a:endParaRPr lang="en-US" sz="930" dirty="0"/>
          </a:p>
        </p:txBody>
      </p:sp>
      <p:sp>
        <p:nvSpPr>
          <p:cNvPr id="74" name="Text 70"/>
          <p:cNvSpPr txBox="1"/>
          <p:nvPr/>
        </p:nvSpPr>
        <p:spPr>
          <a:xfrm>
            <a:off x="6967728" y="5980176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Sports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Physiotherapy</a:t>
            </a:r>
            <a:endParaRPr lang="en-US" sz="960" dirty="0"/>
          </a:p>
        </p:txBody>
      </p:sp>
      <p:sp>
        <p:nvSpPr>
          <p:cNvPr id="75" name="Shape 71"/>
          <p:cNvSpPr/>
          <p:nvPr/>
        </p:nvSpPr>
        <p:spPr>
          <a:xfrm>
            <a:off x="9345168" y="5504688"/>
            <a:ext cx="420624" cy="420624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9345168" y="5513832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OP</a:t>
            </a:r>
            <a:endParaRPr lang="en-US" sz="930" dirty="0"/>
          </a:p>
        </p:txBody>
      </p:sp>
      <p:sp>
        <p:nvSpPr>
          <p:cNvPr id="77" name="Text 73"/>
          <p:cNvSpPr txBox="1"/>
          <p:nvPr/>
        </p:nvSpPr>
        <p:spPr>
          <a:xfrm>
            <a:off x="9034272" y="5980176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Organised Team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Proven Execution</a:t>
            </a:r>
            <a:endParaRPr lang="en-US" sz="960" dirty="0"/>
          </a:p>
        </p:txBody>
      </p:sp>
      <p:sp>
        <p:nvSpPr>
          <p:cNvPr id="78" name="Text 74"/>
          <p:cNvSpPr txBox="1"/>
          <p:nvPr/>
        </p:nvSpPr>
        <p:spPr>
          <a:xfrm>
            <a:off x="713232" y="6528816"/>
            <a:ext cx="10771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Structured deployment for efficient athlete flow, clinical supervision and seamless event coordination.</a:t>
            </a:r>
            <a:endParaRPr lang="en-US" sz="8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28016"/>
            <a:ext cx="1572768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9D2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9112" y="164592"/>
            <a:ext cx="0" cy="1097280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6972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59152" y="210312"/>
            <a:ext cx="7269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GETYOURPHYSIO.IN</a:t>
            </a:r>
            <a:pPr algn="ctr" indent="0" marL="0">
              <a:buNone/>
            </a:pPr>
            <a:r>
              <a:rPr lang="en-US" sz="245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  ×  </a:t>
            </a:r>
            <a:pPr algn="ctr" indent="0" marL="0">
              <a:buNone/>
            </a:pPr>
            <a:r>
              <a:rPr lang="en-US" sz="245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HYROX MUMBAI</a:t>
            </a:r>
            <a:endParaRPr lang="en-US" sz="2450" dirty="0"/>
          </a:p>
        </p:txBody>
      </p:sp>
      <p:sp>
        <p:nvSpPr>
          <p:cNvPr id="6" name="Text 4"/>
          <p:cNvSpPr txBox="1"/>
          <p:nvPr/>
        </p:nvSpPr>
        <p:spPr>
          <a:xfrm>
            <a:off x="3127248" y="66751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spc="60" kern="0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PHYSIOTHERAPY &amp; ATHLETE RECOVERY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3429000" y="969264"/>
            <a:ext cx="5413248" cy="347472"/>
          </a:xfrm>
          <a:prstGeom prst="parallelogram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85032" y="97840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spc="50" kern="0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ATHLETE RECOVERY EXPERIENCE</a:t>
            </a:r>
            <a:endParaRPr lang="en-US" sz="1630" dirty="0"/>
          </a:p>
        </p:txBody>
      </p:sp>
      <p:sp>
        <p:nvSpPr>
          <p:cNvPr id="9" name="Shape 7"/>
          <p:cNvSpPr/>
          <p:nvPr/>
        </p:nvSpPr>
        <p:spPr>
          <a:xfrm>
            <a:off x="9802368" y="0"/>
            <a:ext cx="2389327" cy="1426464"/>
          </a:xfrm>
          <a:prstGeom prst="rect">
            <a:avLst/>
          </a:prstGeom>
          <a:solidFill>
            <a:srgbClr val="090D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6200000">
            <a:off x="9345168" y="0"/>
            <a:ext cx="530352" cy="1426464"/>
          </a:xfrm>
          <a:prstGeom prst="triangle">
            <a:avLst/>
          </a:prstGeom>
          <a:solidFill>
            <a:srgbClr val="090D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11667744" y="0"/>
            <a:ext cx="521208" cy="713232"/>
          </a:xfrm>
          <a:prstGeom prst="triangl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722608" y="10972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280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10" kern="0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PROPOSED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9184" y="1508760"/>
            <a:ext cx="11530584" cy="10789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9CA8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1627632"/>
            <a:ext cx="393192" cy="393192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1636776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" y="204825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ARRIVAL</a:t>
            </a:r>
            <a:endParaRPr lang="en-US" sz="970" dirty="0"/>
          </a:p>
        </p:txBody>
      </p:sp>
      <p:sp>
        <p:nvSpPr>
          <p:cNvPr id="18" name="Text 16"/>
          <p:cNvSpPr txBox="1"/>
          <p:nvPr/>
        </p:nvSpPr>
        <p:spPr>
          <a:xfrm>
            <a:off x="493776" y="2267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Athlete check-in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guidance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364992" y="1627632"/>
            <a:ext cx="393192" cy="393192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64992" y="1636776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798064" y="204825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QUICK ASSESSMENT</a:t>
            </a:r>
            <a:endParaRPr lang="en-US" sz="970" dirty="0"/>
          </a:p>
        </p:txBody>
      </p:sp>
      <p:sp>
        <p:nvSpPr>
          <p:cNvPr id="22" name="Text 20"/>
          <p:cNvSpPr txBox="1"/>
          <p:nvPr/>
        </p:nvSpPr>
        <p:spPr>
          <a:xfrm>
            <a:off x="2779776" y="2267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screening &amp;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assessment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650992" y="1627632"/>
            <a:ext cx="393192" cy="393192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50992" y="1636776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084064" y="204825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RECOVERY</a:t>
            </a:r>
            <a:endParaRPr lang="en-US" sz="970" dirty="0"/>
          </a:p>
        </p:txBody>
      </p:sp>
      <p:sp>
        <p:nvSpPr>
          <p:cNvPr id="26" name="Text 24"/>
          <p:cNvSpPr txBox="1"/>
          <p:nvPr/>
        </p:nvSpPr>
        <p:spPr>
          <a:xfrm>
            <a:off x="5065776" y="2267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recovery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interventions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7936992" y="1627632"/>
            <a:ext cx="393192" cy="393192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36992" y="1636776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70064" y="204825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REASSESSMENT</a:t>
            </a:r>
            <a:endParaRPr lang="en-US" sz="970" dirty="0"/>
          </a:p>
        </p:txBody>
      </p:sp>
      <p:sp>
        <p:nvSpPr>
          <p:cNvPr id="30" name="Text 28"/>
          <p:cNvSpPr txBox="1"/>
          <p:nvPr/>
        </p:nvSpPr>
        <p:spPr>
          <a:xfrm>
            <a:off x="7351776" y="2267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Post-treatment review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guidance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10222992" y="1627632"/>
            <a:ext cx="393192" cy="393192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22992" y="1636776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656064" y="204825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EXIT / REFERRAL</a:t>
            </a:r>
            <a:endParaRPr lang="en-US" sz="970" dirty="0"/>
          </a:p>
        </p:txBody>
      </p:sp>
      <p:sp>
        <p:nvSpPr>
          <p:cNvPr id="34" name="Text 32"/>
          <p:cNvSpPr txBox="1"/>
          <p:nvPr/>
        </p:nvSpPr>
        <p:spPr>
          <a:xfrm>
            <a:off x="9637776" y="2267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exit or escalation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required</a:t>
            </a:r>
            <a:endParaRPr lang="en-US" sz="780" dirty="0"/>
          </a:p>
        </p:txBody>
      </p:sp>
      <p:sp>
        <p:nvSpPr>
          <p:cNvPr id="35" name="Text 33"/>
          <p:cNvSpPr txBox="1"/>
          <p:nvPr/>
        </p:nvSpPr>
        <p:spPr>
          <a:xfrm>
            <a:off x="2212848" y="17282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4498848" y="17282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6784848" y="17282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9070848" y="17282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320040" y="2706624"/>
            <a:ext cx="3822192" cy="309067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9D2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2706624"/>
            <a:ext cx="3822192" cy="310896"/>
          </a:xfrm>
          <a:prstGeom prst="rect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4632" y="2724912"/>
            <a:ext cx="34930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SERVICES WE PROVIDE</a:t>
            </a:r>
            <a:endParaRPr lang="en-US" sz="1220" dirty="0"/>
          </a:p>
        </p:txBody>
      </p:sp>
      <p:sp>
        <p:nvSpPr>
          <p:cNvPr id="42" name="Shape 40"/>
          <p:cNvSpPr/>
          <p:nvPr/>
        </p:nvSpPr>
        <p:spPr>
          <a:xfrm>
            <a:off x="475488" y="3172968"/>
            <a:ext cx="493776" cy="493776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75488" y="3182112"/>
            <a:ext cx="4937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01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133856" y="3090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PRE / POST-RACE SUPPORT</a:t>
            </a:r>
            <a:endParaRPr lang="en-US" sz="1080" dirty="0"/>
          </a:p>
        </p:txBody>
      </p:sp>
      <p:sp>
        <p:nvSpPr>
          <p:cNvPr id="45" name="Text 43"/>
          <p:cNvSpPr txBox="1"/>
          <p:nvPr/>
        </p:nvSpPr>
        <p:spPr>
          <a:xfrm>
            <a:off x="1133856" y="3346704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Rapid screening &amp; mobility assessment</a:t>
            </a:r>
            <a:endParaRPr lang="en-US" sz="820" dirty="0"/>
          </a:p>
        </p:txBody>
      </p:sp>
      <p:sp>
        <p:nvSpPr>
          <p:cNvPr id="46" name="Text 44"/>
          <p:cNvSpPr txBox="1"/>
          <p:nvPr/>
        </p:nvSpPr>
        <p:spPr>
          <a:xfrm>
            <a:off x="1133856" y="3520440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Assisted stretching &amp; dynamic recovery</a:t>
            </a:r>
            <a:endParaRPr lang="en-US" sz="820" dirty="0"/>
          </a:p>
        </p:txBody>
      </p:sp>
      <p:sp>
        <p:nvSpPr>
          <p:cNvPr id="47" name="Text 45"/>
          <p:cNvSpPr txBox="1"/>
          <p:nvPr/>
        </p:nvSpPr>
        <p:spPr>
          <a:xfrm>
            <a:off x="1133856" y="3694176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Mobility guidance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493776" y="3986784"/>
            <a:ext cx="340156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9D2D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" y="4151376"/>
            <a:ext cx="493776" cy="493776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75488" y="4160520"/>
            <a:ext cx="4937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02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1133856" y="4069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RECOVERY INTERVENTIONS</a:t>
            </a:r>
            <a:endParaRPr lang="en-US" sz="1080" dirty="0"/>
          </a:p>
        </p:txBody>
      </p:sp>
      <p:sp>
        <p:nvSpPr>
          <p:cNvPr id="52" name="Text 50"/>
          <p:cNvSpPr txBox="1"/>
          <p:nvPr/>
        </p:nvSpPr>
        <p:spPr>
          <a:xfrm>
            <a:off x="1133856" y="4325112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Manual / soft-tissue techniques</a:t>
            </a:r>
            <a:endParaRPr lang="en-US" sz="820" dirty="0"/>
          </a:p>
        </p:txBody>
      </p:sp>
      <p:sp>
        <p:nvSpPr>
          <p:cNvPr id="53" name="Text 51"/>
          <p:cNvSpPr txBox="1"/>
          <p:nvPr/>
        </p:nvSpPr>
        <p:spPr>
          <a:xfrm>
            <a:off x="1133856" y="4498848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Joint and muscle mobility</a:t>
            </a:r>
            <a:endParaRPr lang="en-US" sz="820" dirty="0"/>
          </a:p>
        </p:txBody>
      </p:sp>
      <p:sp>
        <p:nvSpPr>
          <p:cNvPr id="54" name="Text 52"/>
          <p:cNvSpPr txBox="1"/>
          <p:nvPr/>
        </p:nvSpPr>
        <p:spPr>
          <a:xfrm>
            <a:off x="1133856" y="4672584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Cupping / dry needling when indicated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493776" y="4965192"/>
            <a:ext cx="340156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9D2D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5488" y="5111496"/>
            <a:ext cx="493776" cy="493776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75488" y="5120640"/>
            <a:ext cx="4937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03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1133856" y="5029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CLINICAL SUPPORT</a:t>
            </a:r>
            <a:endParaRPr lang="en-US" sz="1080" dirty="0"/>
          </a:p>
        </p:txBody>
      </p:sp>
      <p:sp>
        <p:nvSpPr>
          <p:cNvPr id="59" name="Text 57"/>
          <p:cNvSpPr txBox="1"/>
          <p:nvPr/>
        </p:nvSpPr>
        <p:spPr>
          <a:xfrm>
            <a:off x="1133856" y="5285232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Identify athletes needing medical attention</a:t>
            </a:r>
            <a:endParaRPr lang="en-US" sz="820" dirty="0"/>
          </a:p>
        </p:txBody>
      </p:sp>
      <p:sp>
        <p:nvSpPr>
          <p:cNvPr id="60" name="Text 58"/>
          <p:cNvSpPr txBox="1"/>
          <p:nvPr/>
        </p:nvSpPr>
        <p:spPr>
          <a:xfrm>
            <a:off x="1133856" y="5458968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Appropriate escalation / referral</a:t>
            </a:r>
            <a:endParaRPr lang="en-US" sz="820" dirty="0"/>
          </a:p>
        </p:txBody>
      </p:sp>
      <p:sp>
        <p:nvSpPr>
          <p:cNvPr id="61" name="Text 59"/>
          <p:cNvSpPr txBox="1"/>
          <p:nvPr/>
        </p:nvSpPr>
        <p:spPr>
          <a:xfrm>
            <a:off x="1133856" y="5632704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Hygiene, safety &amp; clear communication</a:t>
            </a:r>
            <a:endParaRPr lang="en-US" sz="820" dirty="0"/>
          </a:p>
        </p:txBody>
      </p:sp>
      <p:pic>
        <p:nvPicPr>
          <p:cNvPr id="62" name="Image 0" descr="C:\Users\Gaurav\Desktop\Gaurav\tutorials\React\GMP\src\assets\generated\event-race-injury-assess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2706624"/>
            <a:ext cx="2670048" cy="1499616"/>
          </a:xfrm>
          <a:prstGeom prst="rect">
            <a:avLst/>
          </a:prstGeom>
        </p:spPr>
      </p:pic>
      <p:sp>
        <p:nvSpPr>
          <p:cNvPr id="63" name="Shape 60"/>
          <p:cNvSpPr/>
          <p:nvPr/>
        </p:nvSpPr>
        <p:spPr>
          <a:xfrm>
            <a:off x="4315968" y="3931920"/>
            <a:ext cx="2670048" cy="274320"/>
          </a:xfrm>
          <a:prstGeom prst="rect">
            <a:avLst/>
          </a:prstGeom>
          <a:solidFill>
            <a:srgbClr val="090D0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434840" y="396849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ASSESS • TRIAGE • SUPPORT</a:t>
            </a:r>
            <a:endParaRPr lang="en-US" sz="830" dirty="0"/>
          </a:p>
        </p:txBody>
      </p:sp>
      <p:pic>
        <p:nvPicPr>
          <p:cNvPr id="65" name="Image 1" descr="C:\Users\Gaurav\Desktop\Gaurav\tutorials\React\GMP\src\assets\generated\event-pre-race-tap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4297680"/>
            <a:ext cx="2670048" cy="1499616"/>
          </a:xfrm>
          <a:prstGeom prst="rect">
            <a:avLst/>
          </a:prstGeom>
        </p:spPr>
      </p:pic>
      <p:sp>
        <p:nvSpPr>
          <p:cNvPr id="66" name="Shape 62"/>
          <p:cNvSpPr/>
          <p:nvPr/>
        </p:nvSpPr>
        <p:spPr>
          <a:xfrm>
            <a:off x="4315968" y="5522976"/>
            <a:ext cx="2670048" cy="274320"/>
          </a:xfrm>
          <a:prstGeom prst="rect">
            <a:avLst/>
          </a:prstGeom>
          <a:solidFill>
            <a:srgbClr val="090D0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4434840" y="555955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RECOVER • MOBILISE • RETURN</a:t>
            </a:r>
            <a:endParaRPr lang="en-US" sz="830" dirty="0"/>
          </a:p>
        </p:txBody>
      </p:sp>
      <p:sp>
        <p:nvSpPr>
          <p:cNvPr id="68" name="Shape 64"/>
          <p:cNvSpPr/>
          <p:nvPr/>
        </p:nvSpPr>
        <p:spPr>
          <a:xfrm>
            <a:off x="7159752" y="2706624"/>
            <a:ext cx="4700016" cy="309067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9D2D2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7159752" y="2706624"/>
            <a:ext cx="4700016" cy="310896"/>
          </a:xfrm>
          <a:prstGeom prst="rect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7360920" y="2724912"/>
            <a:ext cx="4297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EQUIPMENT &amp; RECOVERY SETUP</a:t>
            </a:r>
            <a:endParaRPr lang="en-US" sz="1220" dirty="0"/>
          </a:p>
        </p:txBody>
      </p:sp>
      <p:sp>
        <p:nvSpPr>
          <p:cNvPr id="71" name="Shape 67"/>
          <p:cNvSpPr/>
          <p:nvPr/>
        </p:nvSpPr>
        <p:spPr>
          <a:xfrm>
            <a:off x="7406640" y="3127248"/>
            <a:ext cx="987552" cy="79552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0D7D6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7717536" y="3209544"/>
            <a:ext cx="365760" cy="292608"/>
          </a:xfrm>
          <a:prstGeom prst="roundRect">
            <a:avLst/>
          </a:prstGeom>
          <a:solidFill>
            <a:srgbClr val="E7F2F1"/>
          </a:solidFill>
          <a:ln w="8890">
            <a:solidFill>
              <a:srgbClr val="087F7B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7717536" y="3218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TT</a:t>
            </a:r>
            <a:endParaRPr lang="en-US" sz="860" dirty="0"/>
          </a:p>
        </p:txBody>
      </p:sp>
      <p:sp>
        <p:nvSpPr>
          <p:cNvPr id="74" name="Text 70"/>
          <p:cNvSpPr txBox="1"/>
          <p:nvPr/>
        </p:nvSpPr>
        <p:spPr>
          <a:xfrm>
            <a:off x="7470648" y="3557016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Treatment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Tables</a:t>
            </a:r>
            <a:endParaRPr lang="en-US" sz="740" dirty="0"/>
          </a:p>
        </p:txBody>
      </p:sp>
      <p:sp>
        <p:nvSpPr>
          <p:cNvPr id="75" name="Shape 71"/>
          <p:cNvSpPr/>
          <p:nvPr/>
        </p:nvSpPr>
        <p:spPr>
          <a:xfrm>
            <a:off x="8485632" y="3127248"/>
            <a:ext cx="987552" cy="79552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0D7D6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8796528" y="3209544"/>
            <a:ext cx="365760" cy="292608"/>
          </a:xfrm>
          <a:prstGeom prst="roundRect">
            <a:avLst/>
          </a:prstGeom>
          <a:solidFill>
            <a:srgbClr val="E7F2F1"/>
          </a:solidFill>
          <a:ln w="8890">
            <a:solidFill>
              <a:srgbClr val="087F7B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8796528" y="3218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MG</a:t>
            </a:r>
            <a:endParaRPr lang="en-US" sz="860" dirty="0"/>
          </a:p>
        </p:txBody>
      </p:sp>
      <p:sp>
        <p:nvSpPr>
          <p:cNvPr id="78" name="Text 74"/>
          <p:cNvSpPr txBox="1"/>
          <p:nvPr/>
        </p:nvSpPr>
        <p:spPr>
          <a:xfrm>
            <a:off x="8549640" y="3557016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Massage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Guns</a:t>
            </a:r>
            <a:endParaRPr lang="en-US" sz="740" dirty="0"/>
          </a:p>
        </p:txBody>
      </p:sp>
      <p:sp>
        <p:nvSpPr>
          <p:cNvPr id="79" name="Shape 75"/>
          <p:cNvSpPr/>
          <p:nvPr/>
        </p:nvSpPr>
        <p:spPr>
          <a:xfrm>
            <a:off x="9564624" y="3127248"/>
            <a:ext cx="987552" cy="79552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0D7D6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9875520" y="3209544"/>
            <a:ext cx="365760" cy="292608"/>
          </a:xfrm>
          <a:prstGeom prst="roundRect">
            <a:avLst/>
          </a:prstGeom>
          <a:solidFill>
            <a:srgbClr val="E7F2F1"/>
          </a:solidFill>
          <a:ln w="8890">
            <a:solidFill>
              <a:srgbClr val="087F7B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9875520" y="3218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CUP</a:t>
            </a:r>
            <a:endParaRPr lang="en-US" sz="860" dirty="0"/>
          </a:p>
        </p:txBody>
      </p:sp>
      <p:sp>
        <p:nvSpPr>
          <p:cNvPr id="82" name="Text 78"/>
          <p:cNvSpPr txBox="1"/>
          <p:nvPr/>
        </p:nvSpPr>
        <p:spPr>
          <a:xfrm>
            <a:off x="9628632" y="3557016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Cupping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Equipment</a:t>
            </a:r>
            <a:endParaRPr lang="en-US" sz="740" dirty="0"/>
          </a:p>
        </p:txBody>
      </p:sp>
      <p:sp>
        <p:nvSpPr>
          <p:cNvPr id="83" name="Shape 79"/>
          <p:cNvSpPr/>
          <p:nvPr/>
        </p:nvSpPr>
        <p:spPr>
          <a:xfrm>
            <a:off x="10643616" y="3127248"/>
            <a:ext cx="987552" cy="79552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0D7D6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10954512" y="3209544"/>
            <a:ext cx="365760" cy="292608"/>
          </a:xfrm>
          <a:prstGeom prst="roundRect">
            <a:avLst/>
          </a:prstGeom>
          <a:solidFill>
            <a:srgbClr val="E7F2F1"/>
          </a:solidFill>
          <a:ln w="8890">
            <a:solidFill>
              <a:srgbClr val="087F7B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10954512" y="3218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DN</a:t>
            </a:r>
            <a:endParaRPr lang="en-US" sz="860" dirty="0"/>
          </a:p>
        </p:txBody>
      </p:sp>
      <p:sp>
        <p:nvSpPr>
          <p:cNvPr id="86" name="Text 82"/>
          <p:cNvSpPr txBox="1"/>
          <p:nvPr/>
        </p:nvSpPr>
        <p:spPr>
          <a:xfrm>
            <a:off x="10707624" y="3557016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Dry Needling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Equipment</a:t>
            </a:r>
            <a:endParaRPr lang="en-US" sz="740" dirty="0"/>
          </a:p>
        </p:txBody>
      </p:sp>
      <p:sp>
        <p:nvSpPr>
          <p:cNvPr id="87" name="Shape 83"/>
          <p:cNvSpPr/>
          <p:nvPr/>
        </p:nvSpPr>
        <p:spPr>
          <a:xfrm>
            <a:off x="7406640" y="3986784"/>
            <a:ext cx="987552" cy="79552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0D7D6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7717536" y="4069080"/>
            <a:ext cx="365760" cy="292608"/>
          </a:xfrm>
          <a:prstGeom prst="roundRect">
            <a:avLst/>
          </a:prstGeom>
          <a:solidFill>
            <a:srgbClr val="E7F2F1"/>
          </a:solidFill>
          <a:ln w="8890">
            <a:solidFill>
              <a:srgbClr val="087F7B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7717536" y="4078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RB</a:t>
            </a:r>
            <a:endParaRPr lang="en-US" sz="860" dirty="0"/>
          </a:p>
        </p:txBody>
      </p:sp>
      <p:sp>
        <p:nvSpPr>
          <p:cNvPr id="90" name="Text 86"/>
          <p:cNvSpPr txBox="1"/>
          <p:nvPr/>
        </p:nvSpPr>
        <p:spPr>
          <a:xfrm>
            <a:off x="7470648" y="441655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Resistance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Bands</a:t>
            </a:r>
            <a:endParaRPr lang="en-US" sz="740" dirty="0"/>
          </a:p>
        </p:txBody>
      </p:sp>
      <p:sp>
        <p:nvSpPr>
          <p:cNvPr id="91" name="Shape 87"/>
          <p:cNvSpPr/>
          <p:nvPr/>
        </p:nvSpPr>
        <p:spPr>
          <a:xfrm>
            <a:off x="8485632" y="3986784"/>
            <a:ext cx="987552" cy="79552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0D7D6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8796528" y="4069080"/>
            <a:ext cx="365760" cy="292608"/>
          </a:xfrm>
          <a:prstGeom prst="roundRect">
            <a:avLst/>
          </a:prstGeom>
          <a:solidFill>
            <a:srgbClr val="E7F2F1"/>
          </a:solidFill>
          <a:ln w="8890">
            <a:solidFill>
              <a:srgbClr val="087F7B"/>
            </a:solidFill>
            <a:prstDash val="solid"/>
          </a:ln>
        </p:spPr>
      </p:sp>
      <p:sp>
        <p:nvSpPr>
          <p:cNvPr id="93" name="Text 89"/>
          <p:cNvSpPr txBox="1"/>
          <p:nvPr/>
        </p:nvSpPr>
        <p:spPr>
          <a:xfrm>
            <a:off x="8796528" y="4078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MT</a:t>
            </a:r>
            <a:endParaRPr lang="en-US" sz="860" dirty="0"/>
          </a:p>
        </p:txBody>
      </p:sp>
      <p:sp>
        <p:nvSpPr>
          <p:cNvPr id="94" name="Text 90"/>
          <p:cNvSpPr txBox="1"/>
          <p:nvPr/>
        </p:nvSpPr>
        <p:spPr>
          <a:xfrm>
            <a:off x="8549640" y="441655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Mobility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Tools</a:t>
            </a:r>
            <a:endParaRPr lang="en-US" sz="740" dirty="0"/>
          </a:p>
        </p:txBody>
      </p:sp>
      <p:sp>
        <p:nvSpPr>
          <p:cNvPr id="95" name="Shape 91"/>
          <p:cNvSpPr/>
          <p:nvPr/>
        </p:nvSpPr>
        <p:spPr>
          <a:xfrm>
            <a:off x="9564624" y="3986784"/>
            <a:ext cx="987552" cy="79552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0D7D6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9875520" y="4069080"/>
            <a:ext cx="365760" cy="292608"/>
          </a:xfrm>
          <a:prstGeom prst="roundRect">
            <a:avLst/>
          </a:prstGeom>
          <a:solidFill>
            <a:srgbClr val="E7F2F1"/>
          </a:solidFill>
          <a:ln w="8890">
            <a:solidFill>
              <a:srgbClr val="087F7B"/>
            </a:solidFill>
            <a:prstDash val="solid"/>
          </a:ln>
        </p:spPr>
      </p:sp>
      <p:sp>
        <p:nvSpPr>
          <p:cNvPr id="97" name="Text 93"/>
          <p:cNvSpPr txBox="1"/>
          <p:nvPr/>
        </p:nvSpPr>
        <p:spPr>
          <a:xfrm>
            <a:off x="9875520" y="4078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FR</a:t>
            </a:r>
            <a:endParaRPr lang="en-US" sz="860" dirty="0"/>
          </a:p>
        </p:txBody>
      </p:sp>
      <p:sp>
        <p:nvSpPr>
          <p:cNvPr id="98" name="Text 94"/>
          <p:cNvSpPr txBox="1"/>
          <p:nvPr/>
        </p:nvSpPr>
        <p:spPr>
          <a:xfrm>
            <a:off x="9628632" y="441655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Foam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Rollers</a:t>
            </a:r>
            <a:endParaRPr lang="en-US" sz="740" dirty="0"/>
          </a:p>
        </p:txBody>
      </p:sp>
      <p:sp>
        <p:nvSpPr>
          <p:cNvPr id="99" name="Shape 95"/>
          <p:cNvSpPr/>
          <p:nvPr/>
        </p:nvSpPr>
        <p:spPr>
          <a:xfrm>
            <a:off x="10643616" y="3986784"/>
            <a:ext cx="987552" cy="79552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0D7D6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10954512" y="4069080"/>
            <a:ext cx="365760" cy="292608"/>
          </a:xfrm>
          <a:prstGeom prst="roundRect">
            <a:avLst/>
          </a:prstGeom>
          <a:solidFill>
            <a:srgbClr val="E7F2F1"/>
          </a:solidFill>
          <a:ln w="8890">
            <a:solidFill>
              <a:srgbClr val="087F7B"/>
            </a:solidFill>
            <a:prstDash val="solid"/>
          </a:ln>
        </p:spPr>
      </p:sp>
      <p:sp>
        <p:nvSpPr>
          <p:cNvPr id="101" name="Text 97"/>
          <p:cNvSpPr txBox="1"/>
          <p:nvPr/>
        </p:nvSpPr>
        <p:spPr>
          <a:xfrm>
            <a:off x="10954512" y="4078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TB</a:t>
            </a:r>
            <a:endParaRPr lang="en-US" sz="860" dirty="0"/>
          </a:p>
        </p:txBody>
      </p:sp>
      <p:sp>
        <p:nvSpPr>
          <p:cNvPr id="102" name="Text 98"/>
          <p:cNvSpPr txBox="1"/>
          <p:nvPr/>
        </p:nvSpPr>
        <p:spPr>
          <a:xfrm>
            <a:off x="10707624" y="441655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Therapy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Balls</a:t>
            </a:r>
            <a:endParaRPr lang="en-US" sz="740" dirty="0"/>
          </a:p>
        </p:txBody>
      </p:sp>
      <p:sp>
        <p:nvSpPr>
          <p:cNvPr id="103" name="Shape 99"/>
          <p:cNvSpPr/>
          <p:nvPr/>
        </p:nvSpPr>
        <p:spPr>
          <a:xfrm>
            <a:off x="7406640" y="4846320"/>
            <a:ext cx="987552" cy="79552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0D7D6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7717536" y="4928616"/>
            <a:ext cx="365760" cy="292608"/>
          </a:xfrm>
          <a:prstGeom prst="roundRect">
            <a:avLst/>
          </a:prstGeom>
          <a:solidFill>
            <a:srgbClr val="E7F2F1"/>
          </a:solidFill>
          <a:ln w="8890">
            <a:solidFill>
              <a:srgbClr val="087F7B"/>
            </a:solidFill>
            <a:prstDash val="solid"/>
          </a:ln>
        </p:spPr>
      </p:sp>
      <p:sp>
        <p:nvSpPr>
          <p:cNvPr id="105" name="Text 101"/>
          <p:cNvSpPr txBox="1"/>
          <p:nvPr/>
        </p:nvSpPr>
        <p:spPr>
          <a:xfrm>
            <a:off x="7717536" y="4937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H/C</a:t>
            </a:r>
            <a:endParaRPr lang="en-US" sz="860" dirty="0"/>
          </a:p>
        </p:txBody>
      </p:sp>
      <p:sp>
        <p:nvSpPr>
          <p:cNvPr id="106" name="Text 102"/>
          <p:cNvSpPr txBox="1"/>
          <p:nvPr/>
        </p:nvSpPr>
        <p:spPr>
          <a:xfrm>
            <a:off x="7470648" y="527608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Hot / Cold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Supplies</a:t>
            </a:r>
            <a:endParaRPr lang="en-US" sz="740" dirty="0"/>
          </a:p>
        </p:txBody>
      </p:sp>
      <p:sp>
        <p:nvSpPr>
          <p:cNvPr id="107" name="Shape 103"/>
          <p:cNvSpPr/>
          <p:nvPr/>
        </p:nvSpPr>
        <p:spPr>
          <a:xfrm>
            <a:off x="8485632" y="4846320"/>
            <a:ext cx="987552" cy="79552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0D7D6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8796528" y="4928616"/>
            <a:ext cx="365760" cy="292608"/>
          </a:xfrm>
          <a:prstGeom prst="roundRect">
            <a:avLst/>
          </a:prstGeom>
          <a:solidFill>
            <a:srgbClr val="E7F2F1"/>
          </a:solidFill>
          <a:ln w="8890">
            <a:solidFill>
              <a:srgbClr val="087F7B"/>
            </a:solidFill>
            <a:prstDash val="solid"/>
          </a:ln>
        </p:spPr>
      </p:sp>
      <p:sp>
        <p:nvSpPr>
          <p:cNvPr id="109" name="Text 105"/>
          <p:cNvSpPr txBox="1"/>
          <p:nvPr/>
        </p:nvSpPr>
        <p:spPr>
          <a:xfrm>
            <a:off x="8796528" y="4937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SAN</a:t>
            </a:r>
            <a:endParaRPr lang="en-US" sz="860" dirty="0"/>
          </a:p>
        </p:txBody>
      </p:sp>
      <p:sp>
        <p:nvSpPr>
          <p:cNvPr id="110" name="Text 106"/>
          <p:cNvSpPr txBox="1"/>
          <p:nvPr/>
        </p:nvSpPr>
        <p:spPr>
          <a:xfrm>
            <a:off x="8549640" y="527608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Sanitisation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Supplies</a:t>
            </a:r>
            <a:endParaRPr lang="en-US" sz="740" dirty="0"/>
          </a:p>
        </p:txBody>
      </p:sp>
      <p:sp>
        <p:nvSpPr>
          <p:cNvPr id="111" name="Shape 107"/>
          <p:cNvSpPr/>
          <p:nvPr/>
        </p:nvSpPr>
        <p:spPr>
          <a:xfrm>
            <a:off x="9564624" y="4846320"/>
            <a:ext cx="987552" cy="79552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0D7D6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9875520" y="4928616"/>
            <a:ext cx="365760" cy="292608"/>
          </a:xfrm>
          <a:prstGeom prst="roundRect">
            <a:avLst/>
          </a:prstGeom>
          <a:solidFill>
            <a:srgbClr val="E7F2F1"/>
          </a:solidFill>
          <a:ln w="8890">
            <a:solidFill>
              <a:srgbClr val="087F7B"/>
            </a:solidFill>
            <a:prstDash val="solid"/>
          </a:ln>
        </p:spPr>
      </p:sp>
      <p:sp>
        <p:nvSpPr>
          <p:cNvPr id="113" name="Text 109"/>
          <p:cNvSpPr txBox="1"/>
          <p:nvPr/>
        </p:nvSpPr>
        <p:spPr>
          <a:xfrm>
            <a:off x="9875520" y="4937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CON</a:t>
            </a:r>
            <a:endParaRPr lang="en-US" sz="860" dirty="0"/>
          </a:p>
        </p:txBody>
      </p:sp>
      <p:sp>
        <p:nvSpPr>
          <p:cNvPr id="114" name="Text 110"/>
          <p:cNvSpPr txBox="1"/>
          <p:nvPr/>
        </p:nvSpPr>
        <p:spPr>
          <a:xfrm>
            <a:off x="9628632" y="527608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Clinical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Consumables</a:t>
            </a:r>
            <a:endParaRPr lang="en-US" sz="740" dirty="0"/>
          </a:p>
        </p:txBody>
      </p:sp>
      <p:sp>
        <p:nvSpPr>
          <p:cNvPr id="115" name="Shape 111"/>
          <p:cNvSpPr/>
          <p:nvPr/>
        </p:nvSpPr>
        <p:spPr>
          <a:xfrm>
            <a:off x="10643616" y="4846320"/>
            <a:ext cx="987552" cy="79552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0D7D6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10954512" y="4928616"/>
            <a:ext cx="365760" cy="292608"/>
          </a:xfrm>
          <a:prstGeom prst="roundRect">
            <a:avLst/>
          </a:prstGeom>
          <a:solidFill>
            <a:srgbClr val="E7F2F1"/>
          </a:solidFill>
          <a:ln w="8890">
            <a:solidFill>
              <a:srgbClr val="087F7B"/>
            </a:solidFill>
            <a:prstDash val="solid"/>
          </a:ln>
        </p:spPr>
      </p:sp>
      <p:sp>
        <p:nvSpPr>
          <p:cNvPr id="117" name="Text 113"/>
          <p:cNvSpPr txBox="1"/>
          <p:nvPr/>
        </p:nvSpPr>
        <p:spPr>
          <a:xfrm>
            <a:off x="10954512" y="4937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DOC</a:t>
            </a:r>
            <a:endParaRPr lang="en-US" sz="860" dirty="0"/>
          </a:p>
        </p:txBody>
      </p:sp>
      <p:sp>
        <p:nvSpPr>
          <p:cNvPr id="118" name="Text 114"/>
          <p:cNvSpPr txBox="1"/>
          <p:nvPr/>
        </p:nvSpPr>
        <p:spPr>
          <a:xfrm>
            <a:off x="10707624" y="527608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Assessment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Material</a:t>
            </a:r>
            <a:endParaRPr lang="en-US" sz="740" dirty="0"/>
          </a:p>
        </p:txBody>
      </p:sp>
      <p:sp>
        <p:nvSpPr>
          <p:cNvPr id="119" name="Shape 115"/>
          <p:cNvSpPr/>
          <p:nvPr/>
        </p:nvSpPr>
        <p:spPr>
          <a:xfrm>
            <a:off x="329184" y="5925312"/>
            <a:ext cx="11530584" cy="676656"/>
          </a:xfrm>
          <a:prstGeom prst="roundRect">
            <a:avLst/>
          </a:prstGeom>
          <a:solidFill>
            <a:srgbClr val="F2F8F7"/>
          </a:solidFill>
          <a:ln w="8255">
            <a:solidFill>
              <a:srgbClr val="087F7B"/>
            </a:solidFill>
            <a:prstDash val="solid"/>
          </a:ln>
        </p:spPr>
      </p:sp>
      <p:sp>
        <p:nvSpPr>
          <p:cNvPr id="120" name="Text 116"/>
          <p:cNvSpPr txBox="1"/>
          <p:nvPr/>
        </p:nvSpPr>
        <p:spPr>
          <a:xfrm>
            <a:off x="758952" y="6044184"/>
            <a:ext cx="6565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SAFE, EFFICIENT AND PROFESSIONAL ATHLETE SUPPORT — FROM ARRIVAL TO RECOVERY OR REFERRAL.</a:t>
            </a:r>
            <a:endParaRPr lang="en-US" sz="1130" dirty="0"/>
          </a:p>
        </p:txBody>
      </p:sp>
      <p:sp>
        <p:nvSpPr>
          <p:cNvPr id="121" name="Shape 117"/>
          <p:cNvSpPr/>
          <p:nvPr/>
        </p:nvSpPr>
        <p:spPr>
          <a:xfrm>
            <a:off x="7589520" y="6007608"/>
            <a:ext cx="256032" cy="256032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Text 118"/>
          <p:cNvSpPr txBox="1"/>
          <p:nvPr/>
        </p:nvSpPr>
        <p:spPr>
          <a:xfrm>
            <a:off x="7589520" y="60076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23" name="Text 119"/>
          <p:cNvSpPr txBox="1"/>
          <p:nvPr/>
        </p:nvSpPr>
        <p:spPr>
          <a:xfrm>
            <a:off x="7406640" y="630021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SAFE</a:t>
            </a:r>
            <a:endParaRPr lang="en-US" sz="690" dirty="0"/>
          </a:p>
        </p:txBody>
      </p:sp>
      <p:sp>
        <p:nvSpPr>
          <p:cNvPr id="124" name="Shape 120"/>
          <p:cNvSpPr/>
          <p:nvPr/>
        </p:nvSpPr>
        <p:spPr>
          <a:xfrm>
            <a:off x="8595360" y="6007608"/>
            <a:ext cx="256032" cy="256032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Text 121"/>
          <p:cNvSpPr txBox="1"/>
          <p:nvPr/>
        </p:nvSpPr>
        <p:spPr>
          <a:xfrm>
            <a:off x="8595360" y="60076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26" name="Text 122"/>
          <p:cNvSpPr txBox="1"/>
          <p:nvPr/>
        </p:nvSpPr>
        <p:spPr>
          <a:xfrm>
            <a:off x="8412480" y="630021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PROFESSIONAL</a:t>
            </a:r>
            <a:endParaRPr lang="en-US" sz="690" dirty="0"/>
          </a:p>
        </p:txBody>
      </p:sp>
      <p:sp>
        <p:nvSpPr>
          <p:cNvPr id="127" name="Shape 123"/>
          <p:cNvSpPr/>
          <p:nvPr/>
        </p:nvSpPr>
        <p:spPr>
          <a:xfrm>
            <a:off x="9756648" y="6007608"/>
            <a:ext cx="256032" cy="256032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Text 124"/>
          <p:cNvSpPr txBox="1"/>
          <p:nvPr/>
        </p:nvSpPr>
        <p:spPr>
          <a:xfrm>
            <a:off x="9756648" y="60076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29" name="Text 125"/>
          <p:cNvSpPr txBox="1"/>
          <p:nvPr/>
        </p:nvSpPr>
        <p:spPr>
          <a:xfrm>
            <a:off x="9573768" y="630021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ATHLETE-FIRST</a:t>
            </a:r>
            <a:endParaRPr lang="en-US" sz="690" dirty="0"/>
          </a:p>
        </p:txBody>
      </p:sp>
      <p:sp>
        <p:nvSpPr>
          <p:cNvPr id="130" name="Shape 126"/>
          <p:cNvSpPr/>
          <p:nvPr/>
        </p:nvSpPr>
        <p:spPr>
          <a:xfrm>
            <a:off x="10890504" y="6007608"/>
            <a:ext cx="256032" cy="256032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Text 127"/>
          <p:cNvSpPr txBox="1"/>
          <p:nvPr/>
        </p:nvSpPr>
        <p:spPr>
          <a:xfrm>
            <a:off x="10890504" y="60076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32" name="Text 128"/>
          <p:cNvSpPr txBox="1"/>
          <p:nvPr/>
        </p:nvSpPr>
        <p:spPr>
          <a:xfrm>
            <a:off x="10707624" y="630021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EFFICIENT</a:t>
            </a:r>
            <a:endParaRPr lang="en-US" sz="690" dirty="0"/>
          </a:p>
        </p:txBody>
      </p:sp>
      <p:pic>
        <p:nvPicPr>
          <p:cNvPr id="133" name="Image 2" descr="C:\Users\Gaurav\Desktop\Gaurav\tutorials\React\GMP\src\assets\myphysio-shield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2024"/>
            <a:ext cx="640080" cy="640080"/>
          </a:xfrm>
          <a:prstGeom prst="rect">
            <a:avLst/>
          </a:prstGeom>
        </p:spPr>
      </p:pic>
      <p:sp>
        <p:nvSpPr>
          <p:cNvPr id="134" name="Text 129"/>
          <p:cNvSpPr/>
          <p:nvPr/>
        </p:nvSpPr>
        <p:spPr>
          <a:xfrm>
            <a:off x="438912" y="8321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pPr algn="ctr" indent="0" marL="0">
              <a:buNone/>
            </a:pPr>
            <a:r>
              <a:rPr lang="en-US" sz="940" b="1" dirty="0">
                <a:solidFill>
                  <a:srgbClr val="087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</a:t>
            </a:r>
            <a:pPr algn="ctr" indent="0" marL="0">
              <a:buNone/>
            </a:pPr>
            <a:r>
              <a:rPr lang="en-US" sz="940" b="1" dirty="0">
                <a:solidFill>
                  <a:srgbClr val="090D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Physio</a:t>
            </a:r>
            <a:pPr algn="ctr" indent="0" marL="0">
              <a:buNone/>
            </a:pPr>
            <a:r>
              <a:rPr lang="en-US" sz="940" b="1" dirty="0">
                <a:solidFill>
                  <a:srgbClr val="087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.in</a:t>
            </a:r>
            <a:endParaRPr lang="en-US" sz="940" dirty="0"/>
          </a:p>
        </p:txBody>
      </p:sp>
      <p:sp>
        <p:nvSpPr>
          <p:cNvPr id="135" name="Text 130"/>
          <p:cNvSpPr txBox="1"/>
          <p:nvPr/>
        </p:nvSpPr>
        <p:spPr>
          <a:xfrm>
            <a:off x="365760" y="109728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360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Healing at your doorstep.</a:t>
            </a:r>
            <a:endParaRPr lang="en-US" sz="660" dirty="0"/>
          </a:p>
        </p:txBody>
      </p:sp>
      <p:pic>
        <p:nvPicPr>
          <p:cNvPr id="136" name="Image 3" descr="C:\Users\Gaurav\Desktop\Gaurav\tutorials\React\GMP\src\assets\temp2.jpg">    </p:cNvPr>
          <p:cNvPicPr>
            <a:picLocks noChangeAspect="1"/>
          </p:cNvPicPr>
          <p:nvPr/>
        </p:nvPicPr>
        <p:blipFill>
          <a:blip r:embed="rId4"/>
          <a:srcRect l="78125" r="0" t="0" b="82031"/>
          <a:stretch/>
        </p:blipFill>
        <p:spPr>
          <a:xfrm>
            <a:off x="9582912" y="0"/>
            <a:ext cx="2608783" cy="1463040"/>
          </a:xfrm>
          <a:prstGeom prst="rect">
            <a:avLst/>
          </a:prstGeom>
        </p:spPr>
      </p:pic>
      <p:sp>
        <p:nvSpPr>
          <p:cNvPr id="137" name="Text 131"/>
          <p:cNvSpPr txBox="1"/>
          <p:nvPr/>
        </p:nvSpPr>
        <p:spPr>
          <a:xfrm>
            <a:off x="9052560" y="1280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10" kern="0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PROPOSED</a:t>
            </a:r>
            <a:endParaRPr lang="en-US" sz="700" dirty="0"/>
          </a:p>
        </p:txBody>
      </p:sp>
      <p:sp>
        <p:nvSpPr>
          <p:cNvPr id="138" name="Text 132"/>
          <p:cNvSpPr txBox="1"/>
          <p:nvPr/>
        </p:nvSpPr>
        <p:spPr>
          <a:xfrm>
            <a:off x="3291840" y="6675120"/>
            <a:ext cx="5623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GETYOURPHYSIO.IN  •  HYROX MUMBAI  •  PROPOSED RECOVERY ZONE</a:t>
            </a:r>
            <a:endParaRPr lang="en-US" sz="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28016"/>
            <a:ext cx="1572768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9D2D2"/>
            </a:solidFill>
            <a:prstDash val="solid"/>
          </a:ln>
        </p:spPr>
      </p:sp>
      <p:pic>
        <p:nvPicPr>
          <p:cNvPr id="4" name="Image 0" descr="C:\Users\Gaurav\Desktop\Gaurav\tutorials\React\GMP\src\assets\logoNew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3736"/>
            <a:ext cx="1024128" cy="10241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109728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360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Healing at your doorstep.</a:t>
            </a:r>
            <a:endParaRPr lang="en-US" sz="660" dirty="0"/>
          </a:p>
        </p:txBody>
      </p:sp>
      <p:sp>
        <p:nvSpPr>
          <p:cNvPr id="6" name="Shape 3"/>
          <p:cNvSpPr/>
          <p:nvPr/>
        </p:nvSpPr>
        <p:spPr>
          <a:xfrm>
            <a:off x="2039112" y="164592"/>
            <a:ext cx="0" cy="1097280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69727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59152" y="210312"/>
            <a:ext cx="7269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GETYOURPHYSIO.IN</a:t>
            </a:r>
            <a:pPr algn="ctr" indent="0" marL="0">
              <a:buNone/>
            </a:pPr>
            <a:r>
              <a:rPr lang="en-US" sz="245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  ×  </a:t>
            </a:r>
            <a:pPr algn="ctr" indent="0" marL="0">
              <a:buNone/>
            </a:pPr>
            <a:r>
              <a:rPr lang="en-US" sz="245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HYROX MUMBAI</a:t>
            </a:r>
            <a:endParaRPr lang="en-US" sz="2450" dirty="0"/>
          </a:p>
        </p:txBody>
      </p:sp>
      <p:sp>
        <p:nvSpPr>
          <p:cNvPr id="8" name="Text 5"/>
          <p:cNvSpPr txBox="1"/>
          <p:nvPr/>
        </p:nvSpPr>
        <p:spPr>
          <a:xfrm>
            <a:off x="3127248" y="66751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spc="60" kern="0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PHYSIOTHERAPY &amp; ATHLETE RECOVERY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3429000" y="969264"/>
            <a:ext cx="5413248" cy="347472"/>
          </a:xfrm>
          <a:prstGeom prst="parallelogram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85032" y="97840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spc="50" kern="0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PLAN OF ACTION</a:t>
            </a:r>
            <a:endParaRPr lang="en-US" sz="1630" dirty="0"/>
          </a:p>
        </p:txBody>
      </p:sp>
      <p:sp>
        <p:nvSpPr>
          <p:cNvPr id="11" name="Shape 8"/>
          <p:cNvSpPr/>
          <p:nvPr/>
        </p:nvSpPr>
        <p:spPr>
          <a:xfrm>
            <a:off x="9802368" y="0"/>
            <a:ext cx="2389327" cy="1426464"/>
          </a:xfrm>
          <a:prstGeom prst="rect">
            <a:avLst/>
          </a:prstGeom>
          <a:solidFill>
            <a:srgbClr val="090D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16200000">
            <a:off x="9345168" y="0"/>
            <a:ext cx="530352" cy="1426464"/>
          </a:xfrm>
          <a:prstGeom prst="triangle">
            <a:avLst/>
          </a:prstGeom>
          <a:solidFill>
            <a:srgbClr val="090D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10800000">
            <a:off x="11667744" y="0"/>
            <a:ext cx="521208" cy="713232"/>
          </a:xfrm>
          <a:prstGeom prst="triangl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722608" y="10972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985248" y="2377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spc="4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Y R O X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10149840" y="548640"/>
            <a:ext cx="1353312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F1DC3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30968" y="60350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spc="200" kern="0" dirty="0">
                <a:solidFill>
                  <a:srgbClr val="F1DC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U M B A I</a:t>
            </a:r>
            <a:endParaRPr lang="en-US" sz="1040" dirty="0"/>
          </a:p>
        </p:txBody>
      </p:sp>
      <p:sp>
        <p:nvSpPr>
          <p:cNvPr id="18" name="Text 15"/>
          <p:cNvSpPr txBox="1"/>
          <p:nvPr/>
        </p:nvSpPr>
        <p:spPr>
          <a:xfrm>
            <a:off x="9930384" y="8686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17–20 SEPT 2026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NESCO CENTRE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1280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10" kern="0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PROPOSED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868680" y="1682496"/>
            <a:ext cx="10387584" cy="0"/>
          </a:xfrm>
          <a:prstGeom prst="line">
            <a:avLst/>
          </a:prstGeom>
          <a:solidFill>
            <a:srgbClr val="FFFFFF">
              <a:alpha val="0"/>
            </a:srgbClr>
          </a:solidFill>
          <a:ln w="21590">
            <a:solidFill>
              <a:srgbClr val="9BCB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42416" y="1563624"/>
            <a:ext cx="246888" cy="246888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40480" y="1563624"/>
            <a:ext cx="246888" cy="246888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47688" y="1563624"/>
            <a:ext cx="246888" cy="246888"/>
          </a:xfrm>
          <a:prstGeom prst="ellipse">
            <a:avLst/>
          </a:prstGeom>
          <a:solidFill>
            <a:srgbClr val="EFA2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54896" y="1563624"/>
            <a:ext cx="246888" cy="246888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93192" y="1847088"/>
            <a:ext cx="2688336" cy="381304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BAC5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3192" y="1847088"/>
            <a:ext cx="2688336" cy="109728"/>
          </a:xfrm>
          <a:prstGeom prst="rect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784" y="2084832"/>
            <a:ext cx="557784" cy="557784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57784" y="2093976"/>
            <a:ext cx="557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01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289304" y="2066544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STAGE</a:t>
            </a:r>
            <a:endParaRPr lang="en-US" sz="740" dirty="0"/>
          </a:p>
        </p:txBody>
      </p:sp>
      <p:sp>
        <p:nvSpPr>
          <p:cNvPr id="30" name="Text 27"/>
          <p:cNvSpPr txBox="1"/>
          <p:nvPr/>
        </p:nvSpPr>
        <p:spPr>
          <a:xfrm>
            <a:off x="1289304" y="225856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BEFORE THE EVENT</a:t>
            </a:r>
            <a:endParaRPr lang="en-US" sz="1420" dirty="0"/>
          </a:p>
        </p:txBody>
      </p:sp>
      <p:sp>
        <p:nvSpPr>
          <p:cNvPr id="31" name="Shape 28"/>
          <p:cNvSpPr/>
          <p:nvPr/>
        </p:nvSpPr>
        <p:spPr>
          <a:xfrm>
            <a:off x="576072" y="2816352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7620">
            <a:solidFill>
              <a:srgbClr val="C9D2D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12648" y="3090672"/>
            <a:ext cx="64008" cy="64008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86384" y="2999232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selection &amp; briefing</a:t>
            </a:r>
            <a:endParaRPr lang="en-US" sz="890" dirty="0"/>
          </a:p>
        </p:txBody>
      </p:sp>
      <p:sp>
        <p:nvSpPr>
          <p:cNvPr id="34" name="Shape 31"/>
          <p:cNvSpPr/>
          <p:nvPr/>
        </p:nvSpPr>
        <p:spPr>
          <a:xfrm>
            <a:off x="612648" y="3447288"/>
            <a:ext cx="64008" cy="64008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86384" y="3355848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shift allocation</a:t>
            </a:r>
            <a:endParaRPr lang="en-US" sz="890" dirty="0"/>
          </a:p>
        </p:txBody>
      </p:sp>
      <p:sp>
        <p:nvSpPr>
          <p:cNvPr id="36" name="Shape 33"/>
          <p:cNvSpPr/>
          <p:nvPr/>
        </p:nvSpPr>
        <p:spPr>
          <a:xfrm>
            <a:off x="612648" y="3803904"/>
            <a:ext cx="64008" cy="64008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86384" y="3712464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 / consumables checklist</a:t>
            </a:r>
            <a:endParaRPr lang="en-US" sz="890" dirty="0"/>
          </a:p>
        </p:txBody>
      </p:sp>
      <p:sp>
        <p:nvSpPr>
          <p:cNvPr id="38" name="Shape 35"/>
          <p:cNvSpPr/>
          <p:nvPr/>
        </p:nvSpPr>
        <p:spPr>
          <a:xfrm>
            <a:off x="612648" y="4160520"/>
            <a:ext cx="64008" cy="64008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86384" y="4069080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Recovery-zone setup planning</a:t>
            </a:r>
            <a:endParaRPr lang="en-US" sz="890" dirty="0"/>
          </a:p>
        </p:txBody>
      </p:sp>
      <p:sp>
        <p:nvSpPr>
          <p:cNvPr id="40" name="Shape 37"/>
          <p:cNvSpPr/>
          <p:nvPr/>
        </p:nvSpPr>
        <p:spPr>
          <a:xfrm>
            <a:off x="612648" y="4517136"/>
            <a:ext cx="64008" cy="64008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86384" y="4425696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Coordination with HYROX team</a:t>
            </a:r>
            <a:endParaRPr lang="en-US" sz="890" dirty="0"/>
          </a:p>
        </p:txBody>
      </p:sp>
      <p:sp>
        <p:nvSpPr>
          <p:cNvPr id="42" name="Shape 39"/>
          <p:cNvSpPr/>
          <p:nvPr/>
        </p:nvSpPr>
        <p:spPr>
          <a:xfrm>
            <a:off x="612648" y="4873752"/>
            <a:ext cx="64008" cy="64008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86384" y="4782312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&amp; escalation protocols</a:t>
            </a:r>
            <a:endParaRPr lang="en-US" sz="890" dirty="0"/>
          </a:p>
        </p:txBody>
      </p:sp>
      <p:sp>
        <p:nvSpPr>
          <p:cNvPr id="44" name="Shape 41"/>
          <p:cNvSpPr/>
          <p:nvPr/>
        </p:nvSpPr>
        <p:spPr>
          <a:xfrm>
            <a:off x="3200400" y="1847088"/>
            <a:ext cx="2688336" cy="381304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BAC5C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200400" y="1847088"/>
            <a:ext cx="2688336" cy="109728"/>
          </a:xfrm>
          <a:prstGeom prst="rect">
            <a:avLst/>
          </a:prstGeom>
          <a:solidFill>
            <a:srgbClr val="167D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364992" y="2084832"/>
            <a:ext cx="557784" cy="557784"/>
          </a:xfrm>
          <a:prstGeom prst="ellipse">
            <a:avLst/>
          </a:prstGeom>
          <a:solidFill>
            <a:srgbClr val="167D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364992" y="2093976"/>
            <a:ext cx="557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02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4096512" y="2066544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167DB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STAGE</a:t>
            </a:r>
            <a:endParaRPr lang="en-US" sz="740" dirty="0"/>
          </a:p>
        </p:txBody>
      </p:sp>
      <p:sp>
        <p:nvSpPr>
          <p:cNvPr id="49" name="Text 46"/>
          <p:cNvSpPr txBox="1"/>
          <p:nvPr/>
        </p:nvSpPr>
        <p:spPr>
          <a:xfrm>
            <a:off x="4096512" y="225856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DURING THE EVENT</a:t>
            </a:r>
            <a:endParaRPr lang="en-US" sz="1420" dirty="0"/>
          </a:p>
        </p:txBody>
      </p:sp>
      <p:sp>
        <p:nvSpPr>
          <p:cNvPr id="50" name="Shape 47"/>
          <p:cNvSpPr/>
          <p:nvPr/>
        </p:nvSpPr>
        <p:spPr>
          <a:xfrm>
            <a:off x="3383280" y="2816352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7620">
            <a:solidFill>
              <a:srgbClr val="C9D2D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419856" y="3090672"/>
            <a:ext cx="64008" cy="64008"/>
          </a:xfrm>
          <a:prstGeom prst="ellipse">
            <a:avLst/>
          </a:prstGeom>
          <a:solidFill>
            <a:srgbClr val="167D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593592" y="2999232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recovery stations</a:t>
            </a:r>
            <a:endParaRPr lang="en-US" sz="890" dirty="0"/>
          </a:p>
        </p:txBody>
      </p:sp>
      <p:sp>
        <p:nvSpPr>
          <p:cNvPr id="53" name="Shape 50"/>
          <p:cNvSpPr/>
          <p:nvPr/>
        </p:nvSpPr>
        <p:spPr>
          <a:xfrm>
            <a:off x="3419856" y="3447288"/>
            <a:ext cx="64008" cy="64008"/>
          </a:xfrm>
          <a:prstGeom prst="ellipse">
            <a:avLst/>
          </a:prstGeom>
          <a:solidFill>
            <a:srgbClr val="167D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593592" y="3355848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Athlete assessment &amp; triage</a:t>
            </a:r>
            <a:endParaRPr lang="en-US" sz="890" dirty="0"/>
          </a:p>
        </p:txBody>
      </p:sp>
      <p:sp>
        <p:nvSpPr>
          <p:cNvPr id="55" name="Shape 52"/>
          <p:cNvSpPr/>
          <p:nvPr/>
        </p:nvSpPr>
        <p:spPr>
          <a:xfrm>
            <a:off x="3419856" y="3803904"/>
            <a:ext cx="64008" cy="64008"/>
          </a:xfrm>
          <a:prstGeom prst="ellipse">
            <a:avLst/>
          </a:prstGeom>
          <a:solidFill>
            <a:srgbClr val="167D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593592" y="3712464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treatment workflow</a:t>
            </a:r>
            <a:endParaRPr lang="en-US" sz="890" dirty="0"/>
          </a:p>
        </p:txBody>
      </p:sp>
      <p:sp>
        <p:nvSpPr>
          <p:cNvPr id="57" name="Shape 54"/>
          <p:cNvSpPr/>
          <p:nvPr/>
        </p:nvSpPr>
        <p:spPr>
          <a:xfrm>
            <a:off x="3419856" y="4160520"/>
            <a:ext cx="64008" cy="64008"/>
          </a:xfrm>
          <a:prstGeom prst="ellipse">
            <a:avLst/>
          </a:prstGeom>
          <a:solidFill>
            <a:srgbClr val="167D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3593592" y="4069080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Team-lead supervision</a:t>
            </a:r>
            <a:endParaRPr lang="en-US" sz="890" dirty="0"/>
          </a:p>
        </p:txBody>
      </p:sp>
      <p:sp>
        <p:nvSpPr>
          <p:cNvPr id="59" name="Shape 56"/>
          <p:cNvSpPr/>
          <p:nvPr/>
        </p:nvSpPr>
        <p:spPr>
          <a:xfrm>
            <a:off x="3419856" y="4517136"/>
            <a:ext cx="64008" cy="64008"/>
          </a:xfrm>
          <a:prstGeom prst="ellipse">
            <a:avLst/>
          </a:prstGeom>
          <a:solidFill>
            <a:srgbClr val="167D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3593592" y="4425696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Event-management coordination</a:t>
            </a:r>
            <a:endParaRPr lang="en-US" sz="890" dirty="0"/>
          </a:p>
        </p:txBody>
      </p:sp>
      <p:sp>
        <p:nvSpPr>
          <p:cNvPr id="61" name="Shape 58"/>
          <p:cNvSpPr/>
          <p:nvPr/>
        </p:nvSpPr>
        <p:spPr>
          <a:xfrm>
            <a:off x="3419856" y="4873752"/>
            <a:ext cx="64008" cy="64008"/>
          </a:xfrm>
          <a:prstGeom prst="ellipse">
            <a:avLst/>
          </a:prstGeom>
          <a:solidFill>
            <a:srgbClr val="167D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3593592" y="4782312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Hygiene &amp; equipment control</a:t>
            </a:r>
            <a:endParaRPr lang="en-US" sz="890" dirty="0"/>
          </a:p>
        </p:txBody>
      </p:sp>
      <p:sp>
        <p:nvSpPr>
          <p:cNvPr id="63" name="Shape 60"/>
          <p:cNvSpPr/>
          <p:nvPr/>
        </p:nvSpPr>
        <p:spPr>
          <a:xfrm>
            <a:off x="3419856" y="5230368"/>
            <a:ext cx="64008" cy="64008"/>
          </a:xfrm>
          <a:prstGeom prst="ellipse">
            <a:avLst/>
          </a:prstGeom>
          <a:solidFill>
            <a:srgbClr val="167D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3593592" y="5138928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documentation</a:t>
            </a:r>
            <a:endParaRPr lang="en-US" sz="890" dirty="0"/>
          </a:p>
        </p:txBody>
      </p:sp>
      <p:sp>
        <p:nvSpPr>
          <p:cNvPr id="65" name="Shape 62"/>
          <p:cNvSpPr/>
          <p:nvPr/>
        </p:nvSpPr>
        <p:spPr>
          <a:xfrm>
            <a:off x="6007608" y="1847088"/>
            <a:ext cx="2688336" cy="381304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BAC5C4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007608" y="1847088"/>
            <a:ext cx="2688336" cy="109728"/>
          </a:xfrm>
          <a:prstGeom prst="rect">
            <a:avLst/>
          </a:prstGeom>
          <a:solidFill>
            <a:srgbClr val="EFA2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172200" y="2084832"/>
            <a:ext cx="557784" cy="557784"/>
          </a:xfrm>
          <a:prstGeom prst="ellipse">
            <a:avLst/>
          </a:prstGeom>
          <a:solidFill>
            <a:srgbClr val="EFA2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6172200" y="2093976"/>
            <a:ext cx="557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03</a:t>
            </a:r>
            <a:endParaRPr lang="en-US" sz="1500" dirty="0"/>
          </a:p>
        </p:txBody>
      </p:sp>
      <p:sp>
        <p:nvSpPr>
          <p:cNvPr id="69" name="Text 66"/>
          <p:cNvSpPr txBox="1"/>
          <p:nvPr/>
        </p:nvSpPr>
        <p:spPr>
          <a:xfrm>
            <a:off x="6903720" y="2066544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EFA235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STAGE</a:t>
            </a:r>
            <a:endParaRPr lang="en-US" sz="740" dirty="0"/>
          </a:p>
        </p:txBody>
      </p:sp>
      <p:sp>
        <p:nvSpPr>
          <p:cNvPr id="70" name="Text 67"/>
          <p:cNvSpPr txBox="1"/>
          <p:nvPr/>
        </p:nvSpPr>
        <p:spPr>
          <a:xfrm>
            <a:off x="6903720" y="225856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ATHLETE EXPERIENCE</a:t>
            </a:r>
            <a:endParaRPr lang="en-US" sz="1420" dirty="0"/>
          </a:p>
        </p:txBody>
      </p:sp>
      <p:sp>
        <p:nvSpPr>
          <p:cNvPr id="71" name="Shape 68"/>
          <p:cNvSpPr/>
          <p:nvPr/>
        </p:nvSpPr>
        <p:spPr>
          <a:xfrm>
            <a:off x="6190488" y="2816352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7620">
            <a:solidFill>
              <a:srgbClr val="C9D2D2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227064" y="3090672"/>
            <a:ext cx="64008" cy="64008"/>
          </a:xfrm>
          <a:prstGeom prst="ellipse">
            <a:avLst/>
          </a:prstGeom>
          <a:solidFill>
            <a:srgbClr val="EFA2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400800" y="2999232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athlete movement</a:t>
            </a:r>
            <a:endParaRPr lang="en-US" sz="890" dirty="0"/>
          </a:p>
        </p:txBody>
      </p:sp>
      <p:sp>
        <p:nvSpPr>
          <p:cNvPr id="74" name="Shape 71"/>
          <p:cNvSpPr/>
          <p:nvPr/>
        </p:nvSpPr>
        <p:spPr>
          <a:xfrm>
            <a:off x="6227064" y="3447288"/>
            <a:ext cx="64008" cy="64008"/>
          </a:xfrm>
          <a:prstGeom prst="ellipse">
            <a:avLst/>
          </a:prstGeom>
          <a:solidFill>
            <a:srgbClr val="EFA2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6400800" y="3355848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Minimised waiting time</a:t>
            </a:r>
            <a:endParaRPr lang="en-US" sz="890" dirty="0"/>
          </a:p>
        </p:txBody>
      </p:sp>
      <p:sp>
        <p:nvSpPr>
          <p:cNvPr id="76" name="Shape 73"/>
          <p:cNvSpPr/>
          <p:nvPr/>
        </p:nvSpPr>
        <p:spPr>
          <a:xfrm>
            <a:off x="6227064" y="3803904"/>
            <a:ext cx="64008" cy="64008"/>
          </a:xfrm>
          <a:prstGeom prst="ellipse">
            <a:avLst/>
          </a:prstGeom>
          <a:solidFill>
            <a:srgbClr val="EFA2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6400800" y="3712464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recovery support</a:t>
            </a:r>
            <a:endParaRPr lang="en-US" sz="890" dirty="0"/>
          </a:p>
        </p:txBody>
      </p:sp>
      <p:sp>
        <p:nvSpPr>
          <p:cNvPr id="78" name="Shape 75"/>
          <p:cNvSpPr/>
          <p:nvPr/>
        </p:nvSpPr>
        <p:spPr>
          <a:xfrm>
            <a:off x="6227064" y="4160520"/>
            <a:ext cx="64008" cy="64008"/>
          </a:xfrm>
          <a:prstGeom prst="ellipse">
            <a:avLst/>
          </a:prstGeom>
          <a:solidFill>
            <a:srgbClr val="EFA2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400800" y="4069080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athlete communication</a:t>
            </a:r>
            <a:endParaRPr lang="en-US" sz="890" dirty="0"/>
          </a:p>
        </p:txBody>
      </p:sp>
      <p:sp>
        <p:nvSpPr>
          <p:cNvPr id="80" name="Shape 77"/>
          <p:cNvSpPr/>
          <p:nvPr/>
        </p:nvSpPr>
        <p:spPr>
          <a:xfrm>
            <a:off x="6227064" y="4517136"/>
            <a:ext cx="64008" cy="64008"/>
          </a:xfrm>
          <a:prstGeom prst="ellipse">
            <a:avLst/>
          </a:prstGeom>
          <a:solidFill>
            <a:srgbClr val="EFA2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6400800" y="4425696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Athlete-first approach</a:t>
            </a:r>
            <a:endParaRPr lang="en-US" sz="890" dirty="0"/>
          </a:p>
        </p:txBody>
      </p:sp>
      <p:sp>
        <p:nvSpPr>
          <p:cNvPr id="82" name="Shape 79"/>
          <p:cNvSpPr/>
          <p:nvPr/>
        </p:nvSpPr>
        <p:spPr>
          <a:xfrm>
            <a:off x="6227064" y="4873752"/>
            <a:ext cx="64008" cy="64008"/>
          </a:xfrm>
          <a:prstGeom prst="ellipse">
            <a:avLst/>
          </a:prstGeom>
          <a:solidFill>
            <a:srgbClr val="EFA2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6400800" y="4782312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Referral when required</a:t>
            </a:r>
            <a:endParaRPr lang="en-US" sz="890" dirty="0"/>
          </a:p>
        </p:txBody>
      </p:sp>
      <p:sp>
        <p:nvSpPr>
          <p:cNvPr id="84" name="Shape 81"/>
          <p:cNvSpPr/>
          <p:nvPr/>
        </p:nvSpPr>
        <p:spPr>
          <a:xfrm>
            <a:off x="8814816" y="1847088"/>
            <a:ext cx="2688336" cy="381304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BAC5C4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814816" y="1847088"/>
            <a:ext cx="2688336" cy="109728"/>
          </a:xfrm>
          <a:prstGeom prst="rect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8979408" y="2084832"/>
            <a:ext cx="557784" cy="557784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8979408" y="2093976"/>
            <a:ext cx="557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04</a:t>
            </a:r>
            <a:endParaRPr lang="en-US" sz="1500" dirty="0"/>
          </a:p>
        </p:txBody>
      </p:sp>
      <p:sp>
        <p:nvSpPr>
          <p:cNvPr id="88" name="Text 85"/>
          <p:cNvSpPr txBox="1"/>
          <p:nvPr/>
        </p:nvSpPr>
        <p:spPr>
          <a:xfrm>
            <a:off x="9710928" y="2066544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STAGE</a:t>
            </a:r>
            <a:endParaRPr lang="en-US" sz="740" dirty="0"/>
          </a:p>
        </p:txBody>
      </p:sp>
      <p:sp>
        <p:nvSpPr>
          <p:cNvPr id="89" name="Text 86"/>
          <p:cNvSpPr txBox="1"/>
          <p:nvPr/>
        </p:nvSpPr>
        <p:spPr>
          <a:xfrm>
            <a:off x="9710928" y="225856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90D0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AFTER THE EVENT</a:t>
            </a:r>
            <a:endParaRPr lang="en-US" sz="1420" dirty="0"/>
          </a:p>
        </p:txBody>
      </p:sp>
      <p:sp>
        <p:nvSpPr>
          <p:cNvPr id="90" name="Shape 87"/>
          <p:cNvSpPr/>
          <p:nvPr/>
        </p:nvSpPr>
        <p:spPr>
          <a:xfrm>
            <a:off x="8997696" y="2816352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7620">
            <a:solidFill>
              <a:srgbClr val="C9D2D2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9034272" y="3090672"/>
            <a:ext cx="64008" cy="64008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9208008" y="2999232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debrief</a:t>
            </a:r>
            <a:endParaRPr lang="en-US" sz="890" dirty="0"/>
          </a:p>
        </p:txBody>
      </p:sp>
      <p:sp>
        <p:nvSpPr>
          <p:cNvPr id="93" name="Shape 90"/>
          <p:cNvSpPr/>
          <p:nvPr/>
        </p:nvSpPr>
        <p:spPr>
          <a:xfrm>
            <a:off x="9034272" y="3447288"/>
            <a:ext cx="64008" cy="64008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208008" y="3355848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Recovery-zone utilisation summary</a:t>
            </a:r>
            <a:endParaRPr lang="en-US" sz="890" dirty="0"/>
          </a:p>
        </p:txBody>
      </p:sp>
      <p:sp>
        <p:nvSpPr>
          <p:cNvPr id="95" name="Shape 92"/>
          <p:cNvSpPr/>
          <p:nvPr/>
        </p:nvSpPr>
        <p:spPr>
          <a:xfrm>
            <a:off x="9034272" y="3803904"/>
            <a:ext cx="64008" cy="64008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9208008" y="3712464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Athlete feedback where available</a:t>
            </a:r>
            <a:endParaRPr lang="en-US" sz="890" dirty="0"/>
          </a:p>
        </p:txBody>
      </p:sp>
      <p:sp>
        <p:nvSpPr>
          <p:cNvPr id="97" name="Shape 94"/>
          <p:cNvSpPr/>
          <p:nvPr/>
        </p:nvSpPr>
        <p:spPr>
          <a:xfrm>
            <a:off x="9034272" y="4160520"/>
            <a:ext cx="64008" cy="64008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9208008" y="4069080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observations</a:t>
            </a:r>
            <a:endParaRPr lang="en-US" sz="890" dirty="0"/>
          </a:p>
        </p:txBody>
      </p:sp>
      <p:sp>
        <p:nvSpPr>
          <p:cNvPr id="99" name="Shape 96"/>
          <p:cNvSpPr/>
          <p:nvPr/>
        </p:nvSpPr>
        <p:spPr>
          <a:xfrm>
            <a:off x="9034272" y="4517136"/>
            <a:ext cx="64008" cy="64008"/>
          </a:xfrm>
          <a:prstGeom prst="ellipse">
            <a:avLst/>
          </a:prstGeom>
          <a:solidFill>
            <a:srgbClr val="087F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208008" y="4425696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7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 for future events</a:t>
            </a:r>
            <a:endParaRPr lang="en-US" sz="890" dirty="0"/>
          </a:p>
        </p:txBody>
      </p:sp>
      <p:sp>
        <p:nvSpPr>
          <p:cNvPr id="101" name="Shape 98"/>
          <p:cNvSpPr/>
          <p:nvPr/>
        </p:nvSpPr>
        <p:spPr>
          <a:xfrm>
            <a:off x="393192" y="5870448"/>
            <a:ext cx="11109960" cy="603504"/>
          </a:xfrm>
          <a:prstGeom prst="roundRect">
            <a:avLst/>
          </a:prstGeom>
          <a:solidFill>
            <a:srgbClr val="090D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658368" y="598017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100" kern="0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OUR OBJECTIVE</a:t>
            </a:r>
            <a:endParaRPr lang="en-US" sz="810" dirty="0"/>
          </a:p>
        </p:txBody>
      </p:sp>
      <p:sp>
        <p:nvSpPr>
          <p:cNvPr id="103" name="Text 100"/>
          <p:cNvSpPr txBox="1"/>
          <p:nvPr/>
        </p:nvSpPr>
        <p:spPr>
          <a:xfrm>
            <a:off x="1865376" y="5934456"/>
            <a:ext cx="9098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Deliver a professionally managed athlete recovery experience that integrates seamlessly into the HYROX event environment.</a:t>
            </a:r>
            <a:endParaRPr lang="en-US" sz="112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6565392"/>
            <a:ext cx="10927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40" kern="0" dirty="0">
                <a:solidFill>
                  <a:srgbClr val="087F7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GetYourPhysio.in  •  Expert Physiotherapy  •  Sports Recovery  •  Event Support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hnschrift Semi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GetYourPhysio.in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GetYourPhysio.in × HYROX Mumbai — Proposed Recovery Zone Plan</dc:title>
  <dc:subject>Physiotherapy &amp; Athlete Recovery Deployment Proposal</dc:subject>
  <dc:creator>GetYourPhysio.in</dc:creator>
  <cp:lastModifiedBy>GetYourPhysio.in</cp:lastModifiedBy>
  <cp:revision>1</cp:revision>
  <dcterms:created xsi:type="dcterms:W3CDTF">2026-09-02T07:31:05Z</dcterms:created>
  <dcterms:modified xsi:type="dcterms:W3CDTF">2026-09-02T07:31:05Z</dcterms:modified>
</cp:coreProperties>
</file>